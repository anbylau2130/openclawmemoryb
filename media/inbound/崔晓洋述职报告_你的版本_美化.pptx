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media1.wma" ContentType="audio/x-ms-wm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2256" y="11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tags" Target="tags/tag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 descr="公司logo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276840" y="96520"/>
            <a:ext cx="1837055" cy="75628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tags" Target="../tags/tag5.xml"/><Relationship Id="rId5" Type="http://schemas.openxmlformats.org/officeDocument/2006/relationships/tags" Target="../tags/tag6.xml"/><Relationship Id="rId6" Type="http://schemas.openxmlformats.org/officeDocument/2006/relationships/tags" Target="../tags/tag7.xml"/><Relationship Id="rId7" Type="http://schemas.openxmlformats.org/officeDocument/2006/relationships/tags" Target="../tags/tag8.xml"/><Relationship Id="rId8" Type="http://schemas.openxmlformats.org/officeDocument/2006/relationships/tags" Target="../tags/tag9.xml"/><Relationship Id="rId9" Type="http://schemas.openxmlformats.org/officeDocument/2006/relationships/tags" Target="../tags/tag10.xml"/><Relationship Id="rId10" Type="http://schemas.openxmlformats.org/officeDocument/2006/relationships/tags" Target="../tags/tag11.xml"/><Relationship Id="rId11" Type="http://schemas.openxmlformats.org/officeDocument/2006/relationships/tags" Target="../tags/tag12.xml"/><Relationship Id="rId12" Type="http://schemas.openxmlformats.org/officeDocument/2006/relationships/tags" Target="../tags/tag13.xml"/><Relationship Id="rId13" Type="http://schemas.openxmlformats.org/officeDocument/2006/relationships/tags" Target="../tags/tag14.xml"/><Relationship Id="rId14" Type="http://schemas.openxmlformats.org/officeDocument/2006/relationships/tags" Target="../tags/tag15.xml"/><Relationship Id="rId15" Type="http://schemas.microsoft.com/office/2007/relationships/media" Target="../media/media1.wma"/><Relationship Id="rId16" Type="http://schemas.openxmlformats.org/officeDocument/2006/relationships/audio" Target="../media/media1.wma"/><Relationship Id="rId17" Type="http://schemas.openxmlformats.org/officeDocument/2006/relationships/slideLayout" Target="../slideLayouts/slideLayout1.xml"/><Relationship Id="rId18" Type="http://schemas.openxmlformats.org/officeDocument/2006/relationships/image" Target="../media/image2.png"/><Relationship Id="rId19" Type="http://schemas.microsoft.com/office/2007/relationships/hdphoto" Target="../media/hdphoto1.wdp"/><Relationship Id="rId20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A_圆角矩形 12"/>
          <p:cNvSpPr/>
          <p:nvPr>
            <p:custDataLst>
              <p:tags r:id="rId1"/>
            </p:custDataLst>
          </p:nvPr>
        </p:nvSpPr>
        <p:spPr>
          <a:xfrm>
            <a:off x="4399861" y="4845774"/>
            <a:ext cx="2408667" cy="334476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2400">
                <a:solidFill>
                  <a:srgbClr val="323232"/>
                </a:solidFill>
              </a:defRPr>
            </a:pPr>
            <a:r>
              <a:t>汇报人：崔晓洋</a:t>
            </a:r>
            <a:endParaRPr lang="en-US" altLang="zh-CN" dirty="0"/>
          </a:p>
        </p:txBody>
      </p:sp>
      <p:sp>
        <p:nvSpPr>
          <p:cNvPr id="14" name="PA_圆角矩形 13"/>
          <p:cNvSpPr/>
          <p:nvPr>
            <p:custDataLst>
              <p:tags r:id="rId2"/>
            </p:custDataLst>
          </p:nvPr>
        </p:nvSpPr>
        <p:spPr>
          <a:xfrm>
            <a:off x="7316067" y="4845774"/>
            <a:ext cx="2140556" cy="334476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2000">
                <a:solidFill>
                  <a:srgbClr val="505050"/>
                </a:solidFill>
              </a:defRPr>
            </a:pPr>
            <a:r>
              <a:t>日期：2026年3月</a:t>
            </a:r>
            <a:endParaRPr lang="en-US" altLang="zh-CN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PA_副标题 2"/>
          <p:cNvSpPr txBox="1"/>
          <p:nvPr>
            <p:custDataLst>
              <p:tags r:id="rId3"/>
            </p:custDataLst>
          </p:nvPr>
        </p:nvSpPr>
        <p:spPr>
          <a:xfrm>
            <a:off x="5784215" y="3622288"/>
            <a:ext cx="3672408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ctr" algn="ctr">
              <a:spcBef>
                <a:spcPts val="0"/>
              </a:spcBef>
              <a:spcAft>
                <a:spcPts val="400"/>
              </a:spcAft>
              <a:buSzPct val="70000"/>
              <a:buNone/>
              <a:defRPr sz="1200">
                <a:solidFill>
                  <a:srgbClr val="969696"/>
                </a:solidFill>
              </a:defRPr>
            </a:pPr>
            <a:r>
              <a:rPr lang="zh-CN" altLang="en-US" sz="1800" dirty="0"/>
              <a:t>左侧可以直接替换成你的照片</a:t>
            </a:r>
          </a:p>
        </p:txBody>
      </p:sp>
      <p:sp>
        <p:nvSpPr>
          <p:cNvPr id="34" name="PA_燕尾形 33"/>
          <p:cNvSpPr/>
          <p:nvPr>
            <p:custDataLst>
              <p:tags r:id="rId4"/>
            </p:custDataLst>
          </p:nvPr>
        </p:nvSpPr>
        <p:spPr>
          <a:xfrm>
            <a:off x="5280159" y="3717227"/>
            <a:ext cx="216024" cy="216024"/>
          </a:xfrm>
          <a:prstGeom prst="chevron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none" anchor="ctr"/>
          <a:lstStyle/>
          <a:p>
            <a:endParaRPr lang="zh-CN" altLang="en-US" sz="2400" kern="0">
              <a:solidFill>
                <a:sysClr val="windowText" lastClr="000000"/>
              </a:solidFill>
              <a:latin typeface="Calibri" panose="020F0502020204030204"/>
              <a:ea typeface="华文细黑" panose="02010600040101010101" pitchFamily="2" charset="-122"/>
            </a:endParaRPr>
          </a:p>
        </p:txBody>
      </p:sp>
      <p:sp>
        <p:nvSpPr>
          <p:cNvPr id="35" name="PA_燕尾形 34"/>
          <p:cNvSpPr/>
          <p:nvPr>
            <p:custDataLst>
              <p:tags r:id="rId5"/>
            </p:custDataLst>
          </p:nvPr>
        </p:nvSpPr>
        <p:spPr>
          <a:xfrm>
            <a:off x="5496183" y="3717227"/>
            <a:ext cx="216024" cy="216024"/>
          </a:xfrm>
          <a:prstGeom prst="chevron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none" anchor="ctr"/>
          <a:lstStyle/>
          <a:p>
            <a:endParaRPr lang="zh-CN" altLang="en-US" sz="2400" kern="0">
              <a:solidFill>
                <a:sysClr val="windowText" lastClr="000000"/>
              </a:solidFill>
              <a:latin typeface="Calibri" panose="020F0502020204030204"/>
              <a:ea typeface="华文细黑" panose="02010600040101010101" pitchFamily="2" charset="-122"/>
            </a:endParaRPr>
          </a:p>
        </p:txBody>
      </p:sp>
      <p:grpSp>
        <p:nvGrpSpPr>
          <p:cNvPr id="36" name="PA_组合 35"/>
          <p:cNvGrpSpPr/>
          <p:nvPr>
            <p:custDataLst>
              <p:tags r:id="rId6"/>
            </p:custDataLst>
          </p:nvPr>
        </p:nvGrpSpPr>
        <p:grpSpPr>
          <a:xfrm>
            <a:off x="4747895" y="1885315"/>
            <a:ext cx="1350010" cy="135001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7" name="同心圆 3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</p:grpSp>
      <p:sp>
        <p:nvSpPr>
          <p:cNvPr id="39" name="PA_文本框 38"/>
          <p:cNvSpPr txBox="1"/>
          <p:nvPr>
            <p:custDataLst>
              <p:tags r:id="rId7"/>
            </p:custDataLst>
          </p:nvPr>
        </p:nvSpPr>
        <p:spPr>
          <a:xfrm>
            <a:off x="4705350" y="2161540"/>
            <a:ext cx="1418590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述</a:t>
            </a:r>
          </a:p>
        </p:txBody>
      </p:sp>
      <p:grpSp>
        <p:nvGrpSpPr>
          <p:cNvPr id="40" name="PA_组合 39"/>
          <p:cNvGrpSpPr/>
          <p:nvPr>
            <p:custDataLst>
              <p:tags r:id="rId8"/>
            </p:custDataLst>
          </p:nvPr>
        </p:nvGrpSpPr>
        <p:grpSpPr>
          <a:xfrm>
            <a:off x="5899150" y="1885315"/>
            <a:ext cx="1350010" cy="135001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1" name="同心圆 40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</p:grpSp>
      <p:sp>
        <p:nvSpPr>
          <p:cNvPr id="43" name="PA_文本框 42"/>
          <p:cNvSpPr txBox="1"/>
          <p:nvPr>
            <p:custDataLst>
              <p:tags r:id="rId9"/>
            </p:custDataLst>
          </p:nvPr>
        </p:nvSpPr>
        <p:spPr>
          <a:xfrm>
            <a:off x="5855970" y="2161540"/>
            <a:ext cx="1418590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职</a:t>
            </a:r>
          </a:p>
        </p:txBody>
      </p:sp>
      <p:grpSp>
        <p:nvGrpSpPr>
          <p:cNvPr id="44" name="PA_组合 43"/>
          <p:cNvGrpSpPr/>
          <p:nvPr>
            <p:custDataLst>
              <p:tags r:id="rId10"/>
            </p:custDataLst>
          </p:nvPr>
        </p:nvGrpSpPr>
        <p:grpSpPr>
          <a:xfrm>
            <a:off x="7006590" y="1885315"/>
            <a:ext cx="1350010" cy="135001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5" name="同心圆 4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</p:grpSp>
      <p:sp>
        <p:nvSpPr>
          <p:cNvPr id="47" name="PA_文本框 46"/>
          <p:cNvSpPr txBox="1"/>
          <p:nvPr>
            <p:custDataLst>
              <p:tags r:id="rId11"/>
            </p:custDataLst>
          </p:nvPr>
        </p:nvSpPr>
        <p:spPr>
          <a:xfrm>
            <a:off x="6964045" y="2161540"/>
            <a:ext cx="1418590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报</a:t>
            </a:r>
          </a:p>
        </p:txBody>
      </p:sp>
      <p:grpSp>
        <p:nvGrpSpPr>
          <p:cNvPr id="58" name="PA_组合 57"/>
          <p:cNvGrpSpPr/>
          <p:nvPr>
            <p:custDataLst>
              <p:tags r:id="rId12"/>
            </p:custDataLst>
          </p:nvPr>
        </p:nvGrpSpPr>
        <p:grpSpPr>
          <a:xfrm>
            <a:off x="8071485" y="1885315"/>
            <a:ext cx="1350010" cy="135001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59" name="同心圆 5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  <p:sp>
          <p:nvSpPr>
            <p:cNvPr id="60" name="椭圆 59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</p:grpSp>
      <p:sp>
        <p:nvSpPr>
          <p:cNvPr id="61" name="PA_文本框 60"/>
          <p:cNvSpPr txBox="1"/>
          <p:nvPr>
            <p:custDataLst>
              <p:tags r:id="rId13"/>
            </p:custDataLst>
          </p:nvPr>
        </p:nvSpPr>
        <p:spPr>
          <a:xfrm>
            <a:off x="8028940" y="2161540"/>
            <a:ext cx="1418590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告</a:t>
            </a:r>
          </a:p>
        </p:txBody>
      </p:sp>
      <p:pic>
        <p:nvPicPr>
          <p:cNvPr id="64" name="PA_图片 2"/>
          <p:cNvPicPr>
            <a:picLocks noChangeAspect="1" noChangeArrowheads="1"/>
          </p:cNvPicPr>
          <p:nvPr>
            <p:custDataLst>
              <p:tags r:id="rId14"/>
            </p:custDataLst>
          </p:nvPr>
        </p:nvPicPr>
        <p:blipFill>
          <a:blip r:embed="rId18" cstate="print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1038" b="100000" l="923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flipH="1">
            <a:off x="1401428" y="1286854"/>
            <a:ext cx="2630282" cy="3896865"/>
          </a:xfrm>
          <a:prstGeom prst="rect">
            <a:avLst/>
          </a:prstGeom>
          <a:noFill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pic>
        <p:nvPicPr>
          <p:cNvPr id="4" name="PA_商务风.mp3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-972616" y="-1604714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52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52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3" presetClass="entr" presetSubtype="52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0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80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13" grpId="0" bldLvl="0" animBg="1"/>
      <p:bldP spid="14" grpId="0" bldLvl="0" animBg="1"/>
      <p:bldP spid="33" grpId="0"/>
      <p:bldP spid="34" grpId="0" bldLvl="0" animBg="1"/>
      <p:bldP spid="35" grpId="0" bldLvl="0" animBg="1"/>
      <p:bldP spid="39" grpId="0"/>
      <p:bldP spid="43" grpId="0"/>
      <p:bldP spid="47" grpId="0"/>
      <p:bldP spid="6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自我介绍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800"/>
              </a:spcBef>
              <a:defRPr sz="2000" b="1">
                <a:solidFill>
                  <a:srgbClr val="006699"/>
                </a:solidFill>
              </a:defRPr>
            </a:pPr>
            <a:r>
              <a:t>1、个人基本信息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3C3C3C"/>
                </a:solidFill>
              </a:defRPr>
            </a:pPr>
            <a:r>
              <a:t>姓名：崔晓洋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3C3C3C"/>
                </a:solidFill>
              </a:defRPr>
            </a:pPr>
            <a:r>
              <a:t>所属部门：财务部-信息组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627139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3C3C3C"/>
                </a:solidFill>
              </a:defRPr>
            </a:pPr>
            <a:r>
              <a:t>职责方向：ERP系统开发、小程序接口开发、财务信息化建设、数据报表开发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800"/>
              </a:spcBef>
              <a:defRPr sz="2000" b="1">
                <a:solidFill>
                  <a:srgbClr val="006699"/>
                </a:solidFill>
              </a:defRPr>
            </a:pPr>
            <a:r>
              <a:t>2、在陈氏阳光的履历信息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3C3C3C"/>
                </a:solidFill>
              </a:defRPr>
            </a:pPr>
            <a:r>
              <a:t>入职时间：2023年6月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3C3C3C"/>
                </a:solidFill>
              </a:defRPr>
            </a:pPr>
            <a:r>
              <a:t>在岗时间：1年9个月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3C3C3C"/>
                </a:solidFill>
              </a:defRPr>
            </a:pPr>
            <a:r>
              <a:t>主要职责：负责财务部信息化系统的开发、运维与优化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业绩介绍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5E95B5A-3E1A-D1BC-1780-87CFF15B908E}"/>
              </a:ext>
            </a:extLst>
          </p:cNvPr>
          <p:cNvGrpSpPr/>
          <p:nvPr/>
        </p:nvGrpSpPr>
        <p:grpSpPr>
          <a:xfrm>
            <a:off x="914400" y="1371600"/>
            <a:ext cx="7315200" cy="2560320"/>
            <a:chOff x="914400" y="1371600"/>
            <a:chExt cx="7315200" cy="2560320"/>
          </a:xfrm>
        </p:grpSpPr>
        <p:sp>
          <p:nvSpPr>
            <p:cNvPr id="4" name="TextBox 3"/>
            <p:cNvSpPr txBox="1"/>
            <p:nvPr/>
          </p:nvSpPr>
          <p:spPr>
            <a:xfrm>
              <a:off x="914400" y="13716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1、在陈氏阳光的业绩贡献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14400" y="18288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ERP系统二次开发：完成3个核心模块优化，系统稳定性提升40%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14400" y="2286000"/>
              <a:ext cx="509947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</a:t>
              </a:r>
              <a:r>
                <a:rPr lang="zh-CN" altLang="en-US" dirty="0"/>
                <a:t>小程序</a:t>
              </a:r>
              <a:r>
                <a:rPr dirty="0" err="1"/>
                <a:t>接口对接</a:t>
              </a:r>
              <a:r>
                <a:rPr dirty="0"/>
                <a:t>：</a:t>
              </a:r>
              <a:r>
                <a:rPr lang="zh-CN" altLang="en-US" dirty="0"/>
                <a:t>小程序后台与金蝶业务操作整套接口</a:t>
              </a:r>
              <a:r>
                <a:rPr dirty="0" err="1"/>
                <a:t>对接</a:t>
              </a:r>
              <a:endParaRPr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27432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异常排查处理：月均处理异常50+次，平均响应时间&lt;2小时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14400" y="3200400"/>
              <a:ext cx="4909742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</a:t>
              </a:r>
              <a:r>
                <a:rPr lang="zh-CN" altLang="en-US" dirty="0"/>
                <a:t>数据报表</a:t>
              </a:r>
              <a:r>
                <a:rPr dirty="0" err="1"/>
                <a:t>开发：开发</a:t>
              </a:r>
              <a:r>
                <a:rPr lang="zh-CN" altLang="en-US" dirty="0"/>
                <a:t>数据</a:t>
              </a:r>
              <a:r>
                <a:rPr dirty="0"/>
                <a:t>分析报表</a:t>
              </a:r>
              <a:r>
                <a:rPr lang="en-US" dirty="0"/>
                <a:t>50</a:t>
              </a:r>
              <a:r>
                <a:rPr dirty="0"/>
                <a:t>+张，支撑</a:t>
              </a:r>
              <a:r>
                <a:rPr lang="zh-CN" altLang="en-US" dirty="0"/>
                <a:t>业务</a:t>
              </a:r>
              <a:r>
                <a:rPr dirty="0" err="1"/>
                <a:t>决策</a:t>
              </a:r>
              <a:endParaRPr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14400" y="36576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</a:t>
              </a:r>
              <a:r>
                <a:rPr dirty="0" err="1"/>
                <a:t>数据备份体系：建立完善的数据备份机制，零数据丢失事故</a:t>
              </a:r>
              <a:endParaRPr dirty="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endParaRPr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0DFBD14-26CD-5BC6-86EC-DBB220B1BBE0}"/>
              </a:ext>
            </a:extLst>
          </p:cNvPr>
          <p:cNvGrpSpPr/>
          <p:nvPr/>
        </p:nvGrpSpPr>
        <p:grpSpPr>
          <a:xfrm>
            <a:off x="914400" y="4572000"/>
            <a:ext cx="7315200" cy="1188720"/>
            <a:chOff x="914400" y="4572000"/>
            <a:chExt cx="7315200" cy="1188720"/>
          </a:xfrm>
        </p:grpSpPr>
        <p:sp>
          <p:nvSpPr>
            <p:cNvPr id="11" name="TextBox 10"/>
            <p:cNvSpPr txBox="1"/>
            <p:nvPr/>
          </p:nvSpPr>
          <p:spPr>
            <a:xfrm>
              <a:off x="914400" y="45720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2、在陈氏阳光的成长和收获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14400" y="50292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</a:t>
              </a:r>
              <a:r>
                <a:rPr dirty="0" err="1"/>
                <a:t>技术能力：掌握ERP系统架构、财务业务流程、数据分析技能</a:t>
              </a:r>
              <a:endParaRPr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14400" y="54864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</a:t>
              </a:r>
              <a:r>
                <a:rPr dirty="0" err="1"/>
                <a:t>业务理解：深入了解财务部门运作模式，成为技术与业务的桥梁</a:t>
              </a:r>
              <a:endParaRPr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在陈氏阳光做的最成功的事情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3C3C3C"/>
                </a:solidFill>
              </a:defRPr>
            </a:pPr>
            <a:r>
              <a:t>用STAR方式描述经历：ERP报表系统优化项目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endParaRPr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D7FECD7-FB30-F80A-848A-28B70E0B9DF0}"/>
              </a:ext>
            </a:extLst>
          </p:cNvPr>
          <p:cNvGrpSpPr/>
          <p:nvPr/>
        </p:nvGrpSpPr>
        <p:grpSpPr>
          <a:xfrm>
            <a:off x="914400" y="2241232"/>
            <a:ext cx="7315200" cy="1188720"/>
            <a:chOff x="914400" y="2286000"/>
            <a:chExt cx="7315200" cy="1188720"/>
          </a:xfrm>
        </p:grpSpPr>
        <p:sp>
          <p:nvSpPr>
            <p:cNvPr id="6" name="TextBox 5"/>
            <p:cNvSpPr txBox="1"/>
            <p:nvPr/>
          </p:nvSpPr>
          <p:spPr>
            <a:xfrm>
              <a:off x="914400" y="22860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1、当时的情景是什么样？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2743200"/>
              <a:ext cx="5828840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202</a:t>
              </a:r>
              <a:r>
                <a:rPr lang="en-US" dirty="0"/>
                <a:t>5</a:t>
              </a:r>
              <a:r>
                <a:rPr dirty="0"/>
                <a:t>年</a:t>
              </a:r>
              <a:r>
                <a:rPr lang="en-US" dirty="0"/>
                <a:t>12</a:t>
              </a:r>
              <a:r>
                <a:rPr dirty="0"/>
                <a:t>，公司财务ERP系统频繁出现报表异常，导致财务结账延迟，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14400" y="32004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影响月度财务报表上报。系统平均每月故障3-5次，严重影响财务工作效率。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CFAD20D-CB41-C892-27D2-70A3F6C857D7}"/>
              </a:ext>
            </a:extLst>
          </p:cNvPr>
          <p:cNvGrpSpPr/>
          <p:nvPr/>
        </p:nvGrpSpPr>
        <p:grpSpPr>
          <a:xfrm>
            <a:off x="914400" y="4224867"/>
            <a:ext cx="7315200" cy="1679377"/>
            <a:chOff x="914400" y="4114800"/>
            <a:chExt cx="7315200" cy="1679377"/>
          </a:xfrm>
        </p:grpSpPr>
        <p:sp>
          <p:nvSpPr>
            <p:cNvPr id="10" name="TextBox 9"/>
            <p:cNvSpPr txBox="1"/>
            <p:nvPr/>
          </p:nvSpPr>
          <p:spPr>
            <a:xfrm>
              <a:off x="914400" y="41148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2、目标任务是什么？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14400" y="45720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</a:t>
              </a:r>
              <a:r>
                <a:rPr dirty="0" err="1"/>
                <a:t>定位并修复系统报表模块的核心问题</a:t>
              </a:r>
              <a:endParaRPr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14400" y="50292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</a:t>
              </a:r>
              <a:r>
                <a:rPr dirty="0" err="1"/>
                <a:t>建立异常预警机制，提前发现潜在风险</a:t>
              </a:r>
              <a:endParaRPr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14400" y="5486400"/>
              <a:ext cx="3560014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</a:t>
              </a:r>
              <a:r>
                <a:rPr dirty="0" err="1"/>
                <a:t>提升系统稳定性，确保</a:t>
              </a:r>
              <a:r>
                <a:rPr lang="zh-CN" altLang="en-US" dirty="0"/>
                <a:t>业务报表</a:t>
              </a:r>
              <a:r>
                <a:rPr dirty="0" err="1"/>
                <a:t>零故障</a:t>
              </a:r>
              <a:endParaRPr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在陈氏阳光做的最成功的事情（续）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86FE672-148A-1CEF-4480-F6D7FDF09282}"/>
              </a:ext>
            </a:extLst>
          </p:cNvPr>
          <p:cNvGrpSpPr/>
          <p:nvPr/>
        </p:nvGrpSpPr>
        <p:grpSpPr>
          <a:xfrm>
            <a:off x="838200" y="1521023"/>
            <a:ext cx="7315200" cy="2103120"/>
            <a:chOff x="914400" y="1371600"/>
            <a:chExt cx="7315200" cy="2103120"/>
          </a:xfrm>
        </p:grpSpPr>
        <p:sp>
          <p:nvSpPr>
            <p:cNvPr id="4" name="TextBox 3"/>
            <p:cNvSpPr txBox="1"/>
            <p:nvPr/>
          </p:nvSpPr>
          <p:spPr>
            <a:xfrm>
              <a:off x="914400" y="13716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3、采取了什么行动？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14400" y="1828800"/>
              <a:ext cx="5194051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深度排查：对报表模块进行代码审计，发现3处数据逻辑</a:t>
              </a:r>
              <a:r>
                <a:rPr lang="zh-CN" altLang="en-US" dirty="0"/>
                <a:t>异常</a:t>
              </a:r>
              <a:endParaRPr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14400" y="22860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</a:t>
              </a:r>
              <a:r>
                <a:rPr dirty="0" err="1"/>
                <a:t>重构优化：重构数据同步流程，引入事务机制确保数据一致性</a:t>
              </a:r>
              <a:endParaRPr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27432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</a:t>
              </a:r>
              <a:r>
                <a:rPr dirty="0" err="1"/>
                <a:t>建立监控：开发异常监控脚本，实时跟踪关键数据指标</a:t>
              </a:r>
              <a:endParaRPr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14400" y="32004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</a:t>
              </a:r>
              <a:r>
                <a:rPr dirty="0" err="1"/>
                <a:t>文档完善：编写技术文档，建立故障处理SOP</a:t>
              </a:r>
              <a:endParaRPr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914400" y="3657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endParaRPr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4401AC8-E3C1-B6EE-B575-06DC26F5CDDB}"/>
              </a:ext>
            </a:extLst>
          </p:cNvPr>
          <p:cNvGrpSpPr/>
          <p:nvPr/>
        </p:nvGrpSpPr>
        <p:grpSpPr>
          <a:xfrm>
            <a:off x="914400" y="4114800"/>
            <a:ext cx="7315200" cy="1645920"/>
            <a:chOff x="914400" y="4114800"/>
            <a:chExt cx="7315200" cy="1645920"/>
          </a:xfrm>
        </p:grpSpPr>
        <p:sp>
          <p:nvSpPr>
            <p:cNvPr id="10" name="TextBox 9"/>
            <p:cNvSpPr txBox="1"/>
            <p:nvPr/>
          </p:nvSpPr>
          <p:spPr>
            <a:xfrm>
              <a:off x="914400" y="41148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4、取得的结果？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14400" y="45720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系统故障率从3-5次/月降至0次/月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14400" y="5029200"/>
              <a:ext cx="2541080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</a:t>
              </a:r>
              <a:r>
                <a:rPr dirty="0" err="1"/>
                <a:t>财务</a:t>
              </a:r>
              <a:r>
                <a:rPr lang="zh-CN" altLang="en-US" dirty="0"/>
                <a:t>报表查询</a:t>
              </a:r>
              <a:r>
                <a:rPr dirty="0"/>
                <a:t>时间缩短</a:t>
              </a:r>
              <a:r>
                <a:rPr lang="en-US" dirty="0"/>
                <a:t>5</a:t>
              </a:r>
              <a:r>
                <a:rPr dirty="0"/>
                <a:t>0%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14400" y="54864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建立7x24小时监控机制，异常发现时间从4小时缩短至15分钟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在陈氏阳光未来工作规划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3765FE7-EB52-3C06-E9A3-57633F5B54AA}"/>
              </a:ext>
            </a:extLst>
          </p:cNvPr>
          <p:cNvGrpSpPr/>
          <p:nvPr/>
        </p:nvGrpSpPr>
        <p:grpSpPr>
          <a:xfrm>
            <a:off x="914400" y="1371600"/>
            <a:ext cx="7315200" cy="2103120"/>
            <a:chOff x="914400" y="1371600"/>
            <a:chExt cx="7315200" cy="2103120"/>
          </a:xfrm>
        </p:grpSpPr>
        <p:sp>
          <p:nvSpPr>
            <p:cNvPr id="4" name="TextBox 3"/>
            <p:cNvSpPr txBox="1"/>
            <p:nvPr/>
          </p:nvSpPr>
          <p:spPr>
            <a:xfrm>
              <a:off x="914400" y="13716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1、清晰描述自己未来的工作规划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14400" y="18288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t>   短期规划（6个月内）：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14400" y="22860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t>   • 完成ERP系统2个核心模块的深度优化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27432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</a:t>
              </a:r>
              <a:r>
                <a:rPr dirty="0" err="1"/>
                <a:t>开发智能化财务分析平台，提升数据洞察能力</a:t>
              </a:r>
              <a:endParaRPr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14400" y="32004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t>   • 推进财务流程数字化改造，提升部门效率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914400" y="3657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endParaRPr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F8EA0B3-688F-BD88-4E1A-C345E0D068C8}"/>
              </a:ext>
            </a:extLst>
          </p:cNvPr>
          <p:cNvGrpSpPr/>
          <p:nvPr/>
        </p:nvGrpSpPr>
        <p:grpSpPr>
          <a:xfrm>
            <a:off x="914400" y="3679984"/>
            <a:ext cx="7315200" cy="1645920"/>
            <a:chOff x="914400" y="4114800"/>
            <a:chExt cx="7315200" cy="1645920"/>
          </a:xfrm>
        </p:grpSpPr>
        <p:sp>
          <p:nvSpPr>
            <p:cNvPr id="10" name="TextBox 9"/>
            <p:cNvSpPr txBox="1"/>
            <p:nvPr/>
          </p:nvSpPr>
          <p:spPr>
            <a:xfrm>
              <a:off x="914400" y="41148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中期规划（1年内）：</a:t>
              </a:r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08DB4A32-A659-95CF-00CA-6B0191B5B3D1}"/>
                </a:ext>
              </a:extLst>
            </p:cNvPr>
            <p:cNvGrpSpPr/>
            <p:nvPr/>
          </p:nvGrpSpPr>
          <p:grpSpPr>
            <a:xfrm>
              <a:off x="914400" y="4572000"/>
              <a:ext cx="7315200" cy="1188720"/>
              <a:chOff x="914400" y="4572000"/>
              <a:chExt cx="7315200" cy="1188720"/>
            </a:xfrm>
          </p:grpSpPr>
          <p:sp>
            <p:nvSpPr>
              <p:cNvPr id="11" name="TextBox 10"/>
              <p:cNvSpPr txBox="1"/>
              <p:nvPr/>
            </p:nvSpPr>
            <p:spPr>
              <a:xfrm>
                <a:off x="914400" y="4572000"/>
                <a:ext cx="7315200" cy="2743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spcBef>
                    <a:spcPts val="600"/>
                  </a:spcBef>
                  <a:defRPr sz="1400"/>
                </a:pPr>
                <a:r>
                  <a:t>   • 构建财务数据中台，实现数据统一管理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914400" y="5029200"/>
                <a:ext cx="7315200" cy="2743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spcBef>
                    <a:spcPts val="600"/>
                  </a:spcBef>
                  <a:defRPr sz="1400"/>
                </a:pPr>
                <a:r>
                  <a:t>   • 引入AI辅助决策工具，提升财务分析深度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914400" y="5486400"/>
                <a:ext cx="7315200" cy="2743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spcBef>
                    <a:spcPts val="600"/>
                  </a:spcBef>
                  <a:defRPr sz="1400"/>
                </a:pPr>
                <a:r>
                  <a:t>   • 建立完善的DevOps流程，提升系统迭代效率</a:t>
                </a:r>
              </a:p>
            </p:txBody>
          </p:sp>
        </p:grpSp>
      </p:grpSp>
      <p:sp>
        <p:nvSpPr>
          <p:cNvPr id="14" name="TextBox 13"/>
          <p:cNvSpPr txBox="1"/>
          <p:nvPr/>
        </p:nvSpPr>
        <p:spPr>
          <a:xfrm>
            <a:off x="914400" y="5943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endParaRPr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1EBE7DAE-B493-4CCB-AF50-6B25AFE95819}"/>
              </a:ext>
            </a:extLst>
          </p:cNvPr>
          <p:cNvGrpSpPr/>
          <p:nvPr/>
        </p:nvGrpSpPr>
        <p:grpSpPr>
          <a:xfrm>
            <a:off x="6096000" y="1759744"/>
            <a:ext cx="7315200" cy="1645920"/>
            <a:chOff x="914400" y="6400800"/>
            <a:chExt cx="7315200" cy="1645920"/>
          </a:xfrm>
        </p:grpSpPr>
        <p:sp>
          <p:nvSpPr>
            <p:cNvPr id="15" name="TextBox 14"/>
            <p:cNvSpPr txBox="1"/>
            <p:nvPr/>
          </p:nvSpPr>
          <p:spPr>
            <a:xfrm>
              <a:off x="914400" y="64008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t>   长期规划（2-3年）：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14400" y="68580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t>   • 成为财务信息化领域的技术专家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14400" y="7315200"/>
              <a:ext cx="2409634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</a:t>
              </a:r>
              <a:r>
                <a:rPr dirty="0" err="1"/>
                <a:t>推动公司数字化转型落地</a:t>
              </a:r>
              <a:endParaRPr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14400" y="77724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t>   • 培养技术团队，提升整体技术能力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在陈氏阳光未来工作规划（续）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AF9D041-546F-34AA-AC4F-0EEEB4F879CA}"/>
              </a:ext>
            </a:extLst>
          </p:cNvPr>
          <p:cNvGrpSpPr/>
          <p:nvPr/>
        </p:nvGrpSpPr>
        <p:grpSpPr>
          <a:xfrm>
            <a:off x="914400" y="1371600"/>
            <a:ext cx="7315200" cy="2103120"/>
            <a:chOff x="914400" y="1371600"/>
            <a:chExt cx="7315200" cy="2103120"/>
          </a:xfrm>
        </p:grpSpPr>
        <p:sp>
          <p:nvSpPr>
            <p:cNvPr id="4" name="TextBox 3"/>
            <p:cNvSpPr txBox="1"/>
            <p:nvPr/>
          </p:nvSpPr>
          <p:spPr>
            <a:xfrm>
              <a:off x="914400" y="13716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t>2、自己是否具备未来规划所需要的能力？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14400" y="18288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t>   技术开发能力：熟练 → 持续学习新技术栈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14400" y="22860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t>   业务理解能力：良好 → 深入财务业务，考取相关证书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27432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t>   项目管理能力：入门 → 学习项目管理方法论，参与更多项目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14400" y="32004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</a:t>
              </a:r>
              <a:r>
                <a:rPr dirty="0" err="1"/>
                <a:t>团队协作能力：优秀</a:t>
              </a:r>
              <a:r>
                <a:rPr dirty="0"/>
                <a:t> → </a:t>
              </a:r>
              <a:r>
                <a:rPr dirty="0" err="1"/>
                <a:t>继续提升跨部门沟通能力</a:t>
              </a:r>
              <a:endParaRPr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914400" y="3657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endParaRPr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F3FCAC1-ACB8-C575-8F69-DFC67ECF400A}"/>
              </a:ext>
            </a:extLst>
          </p:cNvPr>
          <p:cNvGrpSpPr/>
          <p:nvPr/>
        </p:nvGrpSpPr>
        <p:grpSpPr>
          <a:xfrm>
            <a:off x="914400" y="4114800"/>
            <a:ext cx="7315200" cy="1679377"/>
            <a:chOff x="914400" y="4114800"/>
            <a:chExt cx="7315200" cy="1679377"/>
          </a:xfrm>
        </p:grpSpPr>
        <p:sp>
          <p:nvSpPr>
            <p:cNvPr id="10" name="TextBox 9"/>
            <p:cNvSpPr txBox="1"/>
            <p:nvPr/>
          </p:nvSpPr>
          <p:spPr>
            <a:xfrm>
              <a:off x="914400" y="41148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3、自己为了工作规划做了什么准备和采取了什么行动？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14400" y="45720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</a:t>
              </a:r>
              <a:r>
                <a:rPr dirty="0" err="1"/>
                <a:t>学习提升：参加Python数据分析、财务系统架构培训</a:t>
              </a:r>
              <a:endParaRPr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14400" y="50292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t>   • 实践积累：主动承担复杂模块开发，积累项目经验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14400" y="5486400"/>
              <a:ext cx="3486852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• </a:t>
              </a:r>
              <a:r>
                <a:rPr dirty="0" err="1"/>
                <a:t>知识沉淀</a:t>
              </a:r>
              <a:r>
                <a:rPr dirty="0"/>
                <a:t>：</a:t>
              </a:r>
              <a:r>
                <a:rPr lang="zh-CN" altLang="en-US" dirty="0"/>
                <a:t>整理项目文档</a:t>
              </a:r>
              <a:r>
                <a:rPr dirty="0"/>
                <a:t>，建立知识库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对公司有什么样的建议</a:t>
            </a:r>
            <a:endParaRPr dirty="0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F728CEE-8166-0BFE-E050-B681DD665863}"/>
              </a:ext>
            </a:extLst>
          </p:cNvPr>
          <p:cNvGrpSpPr/>
          <p:nvPr/>
        </p:nvGrpSpPr>
        <p:grpSpPr>
          <a:xfrm>
            <a:off x="914400" y="1691640"/>
            <a:ext cx="7315200" cy="3017520"/>
            <a:chOff x="914400" y="1371600"/>
            <a:chExt cx="7315200" cy="3017520"/>
          </a:xfrm>
        </p:grpSpPr>
        <p:sp>
          <p:nvSpPr>
            <p:cNvPr id="4" name="TextBox 3"/>
            <p:cNvSpPr txBox="1"/>
            <p:nvPr/>
          </p:nvSpPr>
          <p:spPr>
            <a:xfrm>
              <a:off x="914400" y="13716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问题1：财务系统孤岛现象严重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14400" y="18288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</a:t>
              </a:r>
              <a:r>
                <a:rPr dirty="0" err="1"/>
                <a:t>问题描述：财务系统与业务系统数据打通不畅，数据重复录入多</a:t>
              </a:r>
              <a:endParaRPr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14400" y="22860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数据化表述：跨系统数据同步需要人工处理约40%，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27432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             数据不一致导致的返工率约20%，月度数据核对耗时约8小时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14400" y="32004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</a:t>
              </a:r>
              <a:r>
                <a:rPr dirty="0" err="1"/>
                <a:t>建议：建立财务数据中台，实现数据统一管理</a:t>
              </a:r>
              <a:endParaRPr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14400" y="36576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     </a:t>
              </a:r>
              <a:r>
                <a:rPr dirty="0" err="1"/>
                <a:t>推进系统集成，打通核心业务数据流</a:t>
              </a:r>
              <a:endParaRPr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14400" y="41148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     </a:t>
              </a:r>
              <a:r>
                <a:rPr dirty="0" err="1"/>
                <a:t>引入数据治理机制，确保数据质量</a:t>
              </a:r>
              <a:endParaRPr dirty="0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对公司有什么样的建议（续）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F20DCA2-CD85-B18A-DF27-BE509EF4B8E4}"/>
              </a:ext>
            </a:extLst>
          </p:cNvPr>
          <p:cNvGrpSpPr/>
          <p:nvPr/>
        </p:nvGrpSpPr>
        <p:grpSpPr>
          <a:xfrm>
            <a:off x="838200" y="1516743"/>
            <a:ext cx="7315200" cy="3474720"/>
            <a:chOff x="914400" y="1371600"/>
            <a:chExt cx="7315200" cy="3474720"/>
          </a:xfrm>
        </p:grpSpPr>
        <p:sp>
          <p:nvSpPr>
            <p:cNvPr id="4" name="TextBox 3"/>
            <p:cNvSpPr txBox="1"/>
            <p:nvPr/>
          </p:nvSpPr>
          <p:spPr>
            <a:xfrm>
              <a:off x="914400" y="1371600"/>
              <a:ext cx="3328155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问题</a:t>
              </a:r>
              <a:r>
                <a:rPr lang="en-US" altLang="zh-CN" dirty="0"/>
                <a:t>2</a:t>
              </a:r>
              <a:r>
                <a:rPr dirty="0"/>
                <a:t>：技术文档与知识管理体系不完善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14400" y="18288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</a:t>
              </a:r>
              <a:r>
                <a:rPr dirty="0" err="1"/>
                <a:t>问题描述：技术文档分散，新员工上手慢，故障处理依赖个人经验</a:t>
              </a:r>
              <a:endParaRPr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14400" y="22860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数据化表述：新员工独立上岗时间约3个月，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27432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             故障处理依赖个人经验的占比约70%，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14400" y="32004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             知识沉淀复用率不足30%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14400" y="36576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t>   建议：建立统一的技术文档管理平台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14400" y="41148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     </a:t>
              </a:r>
              <a:r>
                <a:rPr dirty="0" err="1"/>
                <a:t>制定文档编写规范，定期更新维护</a:t>
              </a:r>
              <a:endParaRPr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14400" y="4572000"/>
              <a:ext cx="7315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  <a:defRPr sz="1400"/>
              </a:pPr>
              <a:r>
                <a:rPr dirty="0"/>
                <a:t>        </a:t>
              </a:r>
              <a:r>
                <a:rPr dirty="0" err="1"/>
                <a:t>建立知识库，促进经验共享</a:t>
              </a:r>
              <a:endParaRPr dirty="0"/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mY2ZTMxNmJkYTg4MzliZjQxY2U3MDU0ZDBmZDRjMT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505</Words>
  <Application>Microsoft Office PowerPoint</Application>
  <PresentationFormat>宽屏</PresentationFormat>
  <Paragraphs>86</Paragraphs>
  <Slides>9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微软雅黑</vt:lpstr>
      <vt:lpstr>Arial</vt:lpstr>
      <vt:lpstr>Calibri</vt:lpstr>
      <vt:lpstr>Office 主题</vt:lpstr>
      <vt:lpstr>PowerPoint 演示文稿</vt:lpstr>
      <vt:lpstr>自我介绍</vt:lpstr>
      <vt:lpstr>业绩介绍</vt:lpstr>
      <vt:lpstr>在陈氏阳光做的最成功的事情</vt:lpstr>
      <vt:lpstr>在陈氏阳光做的最成功的事情（续）</vt:lpstr>
      <vt:lpstr>在陈氏阳光未来工作规划</vt:lpstr>
      <vt:lpstr>在陈氏阳光未来工作规划（续）</vt:lpstr>
      <vt:lpstr>对公司有什么样的建议</vt:lpstr>
      <vt:lpstr>对公司有什么样的建议（续）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tsui hiuyeung</cp:lastModifiedBy>
  <cp:revision>48</cp:revision>
  <dcterms:created xsi:type="dcterms:W3CDTF">2022-09-08T06:42:00Z</dcterms:created>
  <dcterms:modified xsi:type="dcterms:W3CDTF">2026-03-16T03:00:37Z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D4F76126E1E44E33B9E8D882A361FF4B_11</vt:lpwstr>
  </property>
  <property fmtid="{D5CDD505-2E9C-101B-9397-08002B2CF9AE}" pid="3" name="KSOProductBuildVer">
    <vt:lpwstr>2052-12.1.0.25225</vt:lpwstr>
  </property>
</Properties>
</file>